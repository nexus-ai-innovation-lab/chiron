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1" r:id="rId23"/>
    <p:sldId id="263" r:id="rId8"/>
    <p:sldId id="264" r:id="rId9"/>
    <p:sldId id="265" r:id="rId10"/>
    <p:sldId id="266" r:id="rId11"/>
    <p:sldId id="267" r:id="rId12"/>
    <p:sldId id="268" r:id="rId13"/>
    <p:sldId id="275" r:id="rId14"/>
    <p:sldId id="278" r:id="rId20"/>
    <p:sldId id="279" r:id="rId21"/>
    <p:sldId id="280" r:id="rId22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Logo" Type="http://schemas.openxmlformats.org/officeDocument/2006/relationships/image" Target="../media/chiron-logo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1A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300" b="1">
                <a:solidFill>
                  <a:srgbClr val="45C878"/>
                </a:solidFill>
                <a:latin typeface="Arial Narrow"/>
              </a:rPr>
              <a:t>SAÉ 5.Real.01 · PARCOURS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0" b="1">
                <a:solidFill>
                  <a:srgbClr val="10964A"/>
                </a:solidFill>
                <a:latin typeface="Arial Narrow"/>
              </a:rPr>
              <a:t>CHIRON.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6217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Plateforme de dossier patient et d'imagerie médicale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C8D3E0"/>
                </a:solidFill>
                <a:latin typeface="Calibri"/>
              </a:rPr>
              <a:t>Radiologie DICOM · Biopsie numérique · Aide au diagnostic par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892040"/>
            <a:ext cx="2011680" cy="2200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3A3B6"/>
                </a:solidFill>
                <a:latin typeface="Calibri"/>
              </a:rPr>
              <a:t>Développement avancé d'une solution informatique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93A3B6"/>
                </a:solidFill>
                <a:latin typeface="Calibri"/>
              </a:rPr>
              <a:t>Conception · Développement ·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EN CHIFFRES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endParaRPr sz="1200" b="1">
              <a:solidFill>
                <a:srgbClr val="45C878"/>
              </a:solidFill>
              <a:latin typeface="Arial Narrow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Arial Narrow"/>
              </a:rPr>
              <a:t>7 conteneurs orchestrés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Arial Narrow"/>
              </a:rPr>
              <a:t>18 routes d'API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Arial Narrow"/>
              </a:rPr>
              <a:t>7 tables métier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Arial Narrow"/>
              </a:rPr>
              <a:t>~6 600 lignes de code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Arial Narrow"/>
              </a:rPr>
              <a:t>2 visionneuses médicales</a:t>
            </a:r>
          </a:p>
        </p:txBody>
      </p:sp>
      <p:pic>
        <p:nvPicPr>
          <p:cNvPr id="90" name="Logo Chiron" descr="Le centaure porte-étendard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1005840" y="548640"/>
            <a:ext cx="804334" cy="800100"/>
          </a:xfrm>
          <a:prstGeom prst="rect">
            <a:avLst/>
          </a:prstGeom>
        </p:spPr>
      </p:pic>
      <p:sp>
        <p:nvSpPr>
          <p:cNvPr id="91" name="Auteurs"/>
          <p:cNvSpPr txBox="1"/>
          <p:nvPr/>
        </p:nvSpPr>
        <p:spPr>
          <a:xfrm>
            <a:off x="1005840" y="576072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 Narrow"/>
              </a:rPr>
              <a:t>OUGHLIS RAYAN · SEMIANE ELIAS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CADRAGE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Objectifs et problématique professionnelle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5212080" cy="201168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8000" cy="201168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78308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dirty="0">
                <a:solidFill>
                  <a:srgbClr val="FFFFFF"/>
                </a:solidFill>
                <a:latin typeface="Arial Narrow"/>
              </a:rPr>
              <a:t>La </a:t>
            </a:r>
            <a:r>
              <a:rPr sz="1450" b="1" dirty="0" err="1">
                <a:solidFill>
                  <a:srgbClr val="FFFFFF"/>
                </a:solidFill>
                <a:latin typeface="Arial Narrow"/>
              </a:rPr>
              <a:t>demande</a:t>
            </a:r>
            <a:endParaRPr sz="1450" b="1" dirty="0">
              <a:solidFill>
                <a:srgbClr val="FFFFFF"/>
              </a:solidFill>
              <a:latin typeface="Arial Narrow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Concevoir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équipe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solution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informatique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complète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démarche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itérative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avec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intégration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continue.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Partir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d'un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besoin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exprimé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 façon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imprécise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le clarifier,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le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formaliser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puis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développer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application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communicante</a:t>
            </a:r>
            <a:endParaRPr sz="115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manipulant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des données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respectant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les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paradigmes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qualité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212080" cy="201168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38000" cy="201168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4800600" cy="1388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dirty="0">
                <a:solidFill>
                  <a:srgbClr val="FFFFFF"/>
                </a:solidFill>
                <a:latin typeface="Arial Narrow"/>
              </a:rPr>
              <a:t>La </a:t>
            </a:r>
            <a:r>
              <a:rPr sz="1450" b="1" dirty="0" err="1">
                <a:solidFill>
                  <a:srgbClr val="FFFFFF"/>
                </a:solidFill>
                <a:latin typeface="Arial Narrow"/>
              </a:rPr>
              <a:t>traduction</a:t>
            </a:r>
            <a:r>
              <a:rPr sz="1450" b="1" dirty="0">
                <a:solidFill>
                  <a:srgbClr val="FFFFFF"/>
                </a:solidFill>
                <a:latin typeface="Arial Narrow"/>
              </a:rPr>
              <a:t> pour Chiron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Le besoin initial, « un outil pour visualiser les images », recouvrait en réalité trois métiers distincts :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 la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radiologie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ses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images DICOM,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l'anatomopathologie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ses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lames de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plusieurs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Go,</a:t>
            </a:r>
          </a:p>
          <a:p>
            <a:pPr marL="171450" indent="-171450" algn="l">
              <a:lnSpc>
                <a:spcPct val="11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le compte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rendu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structuré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encadré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par un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protocole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86200"/>
            <a:ext cx="10698480" cy="214884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600" y="4377383"/>
            <a:ext cx="10424160" cy="11664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 dirty="0" err="1">
                <a:solidFill>
                  <a:srgbClr val="FFFFFF"/>
                </a:solidFill>
                <a:latin typeface="Arial Narrow"/>
              </a:rPr>
              <a:t>Problématique</a:t>
            </a:r>
            <a:r>
              <a:rPr sz="1700" b="1" dirty="0">
                <a:solidFill>
                  <a:srgbClr val="FFFFFF"/>
                </a:solidFill>
                <a:latin typeface="Arial Narrow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 Narrow"/>
              </a:rPr>
              <a:t>retenue</a:t>
            </a:r>
            <a:endParaRPr sz="1700" b="1" dirty="0">
              <a:solidFill>
                <a:srgbClr val="FFFFFF"/>
              </a:solidFill>
              <a:latin typeface="Arial Narrow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Comment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permettre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à un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pathologiste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et à un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radiologue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travailler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sur les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mêmes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dossiers patients</a:t>
            </a:r>
            <a:r>
              <a:rPr lang="fr-FR" sz="150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avec des images de nature et de volume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radicalement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différents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, tout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garantissant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le compte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rendu</a:t>
            </a:r>
            <a:r>
              <a:rPr lang="fr-FR"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suive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un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protocole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quatre étapes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que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l'application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fait respecter</a:t>
            </a:r>
            <a:r>
              <a:rPr lang="fr-FR" sz="15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ANALYSE DU BESOIN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Trois contraintes métier structurantes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42900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1 · Volume des images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Une lame de biopsie numérisée (WSI) pèse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100 Mo à plusieurs gigaoctets.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Impossible à charger dans un navigateur.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→ Pyramide de tuiles DZI générée par PyVips,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  chargée à la demande selon le zoom.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fichier source reste dans un stockage objet,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et n'est retéléchargé que pour l'analyse.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42900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645920"/>
            <a:ext cx="38000" cy="40233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2 · Deux mondes d'imagerie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La radiologie et l'anatomopathologie n'ont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ni le même format, ni les mêmes outils.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DICOM ↔ Orthanc ↔ Cornerstone.js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WSI ↔ MinIO ↔ OpenSeadragon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→ Deux visionneuses distinctes, un seul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  dossier patient qui les réunit.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mesures et annotations sont propres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à chaque modalité.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45920"/>
            <a:ext cx="329184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1828800"/>
            <a:ext cx="288036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3 · Protocole imposé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compte rendu anatomopathologique suit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quatre étapes obligatoires et ordonnées.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Prélèvement → Préparation 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Microscopie → Diagnostic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→ Un moteur d'étapes côté serveur refuse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  toute transition non validée.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formulaires viennent d'OLGA, un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service externe de l'écosystème.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SCÉNARIO TYPE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Le parcours d'un dossier de biopsie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0000" cy="658368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19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8249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Création du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0078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praticien crée le patient depuis le tableau de bord. Un identifiant de dossier unique est généré.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359152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359152"/>
            <a:ext cx="30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24780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414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Import de la lame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59736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La lame (.svs / .tif) est téléversée : envoi vers le stockage objet, puis tuilage en pyramide DZI.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18104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3118104"/>
            <a:ext cx="30000" cy="658368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236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004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Exploration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18688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La lame s'ouvre dans la visionneuse. Zoom continu, déplacement, annotations partagées entre collègues.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877056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877056"/>
            <a:ext cx="30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5935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Extraction d'une zone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9776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praticien encadre une région d'intérêt. Elle est découpée et devient un dossier d'analyse autonome.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636008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4636008"/>
            <a:ext cx="30000" cy="658368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4754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71830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Analyse assistée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36592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L'IA segmente les noyaux de la zone et restitue densité cellulaire et indice de pléomorphisme.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39496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5394960"/>
            <a:ext cx="30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" y="5513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>
                <a:solidFill>
                  <a:srgbClr val="45C878"/>
                </a:solidFill>
                <a:latin typeface="Arial Narrow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47725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Compte rendu guidé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49554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quatre formulaires se succèdent. Chaque étape est validée et horodatée avant de passer à la suivante.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SCÉNARIO TYPE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Les acteurs et leurs attentes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2578608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Pathologiste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Analyse les lames, pose le diagnostic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et valide le compte rendu.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Attend : une lecture fluide malgré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volume, et un formulaire qui suit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protocole sans le contraindre à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mémoriser.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2578608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Radiologue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Interprète les examens DICOM et rédige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le compte rendu radiologique.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Attend : les outils de mesure habituels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(fenêtrage, distances, régions) et la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conservation de ses annotations d'une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session à l'autre.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2578608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Technicien de laboratoire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Prépare les blocs, les lames et 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colorations.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Attend : renseigner les étapes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prélèvement et de préparation sans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avoir accès au diagnostic, qui 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relève pas de son rôle.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578608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645920"/>
            <a:ext cx="38000" cy="40233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828800"/>
            <a:ext cx="2167128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Établissement de santé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Porte la responsabilité des données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de santé traitées.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0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Attend : la traçabilité de chaque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validation (qui, quand) et une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architecture capable d'accueillir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une authentification réelle.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EXPRESSION DU BESOIN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User stories retenues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Créer un dossier patient et y rattacher ses examens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Importer une lame de biopsie et l'explorer en zoom continu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Importer un examen DICOM et le lire avec les outils de mesure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87168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487168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Annoter une image et distinguer ses annotations de celles des collègues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28416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328416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Extraire une région d'intérêt pour en faire un dossier d'analyse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28416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328416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Obtenir une aide au diagnostic par segmentation des noyaux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69664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169664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Renseigner le compte rendu en quatre étapes protocolaires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169664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169664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Reprendre un dossier là où il avait été laissé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10912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5010912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15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Rédiger et conserver un compte rendu radiologique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010912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5010912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Supprimer un dossier patient et l'ensemble de ses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Architecture de la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10515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45C878"/>
                </a:solidFill>
                <a:latin typeface="Calibri"/>
              </a:rPr>
              <a:t>PRÉSENTATION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React 19 · TypeScript · Vite · Tailwind    |    Cornerstone.js (DICOM)    |    OpenSeadragon (lames)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10698480" cy="10515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45C878"/>
                </a:solidFill>
                <a:latin typeface="Calibri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461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FastAPI (port 8002) · 18 routes · SQLAlchemy 2 · Pydantic 2    |    Moteur de workflow isolé (routeur / service / schémas)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77639"/>
            <a:ext cx="10698480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C8D3E0"/>
                </a:solidFill>
                <a:latin typeface="Calibri"/>
              </a:rPr>
              <a:t>PERSISTANCE ET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PostgreSQL 15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7 tables métier
Alembic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1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MinIO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Lames sources
Extractions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2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Orthanc 1.12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PACS DICOM
HTTP + port 4242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3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Disque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Tuiles DZI
servies en statique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4" y="4462272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InstanSeg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Segmentation
de noyaux (PyTorch)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solidFill>
            <a:srgbClr val="334458"/>
          </a:solidFill>
          <a:ln w="1524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45C878"/>
                </a:solidFill>
                <a:latin typeface="Calibri"/>
              </a:rPr>
              <a:t>SERVICE EXTERNE : OLGA (port 9091)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C8D3E0"/>
                </a:solidFill>
                <a:latin typeface="Calibri"/>
              </a:rPr>
              <a:t>Fournit la définition des formulaires. Chiron traduit son format propriétaire en JSON Schema, et garde la maîtrise de l'ordre des étapes, de la validation et de la persistance.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Choix techniques et justification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72768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Orthanc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0992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Serveur PACS DICOM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0992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Standard du domaine, API REST, conteneurisé. Évite de réimplémenter le protocole DICOM.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57984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27685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Cornerstone.js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9514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Visionneuse DICOM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295144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Fenêtrage, mesures, régions d'intérêt : les gestes attendus par un radiologue.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28620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PyVips + DZI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803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Tuilage des lames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88036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Traite des images de plusieurs Go en flux, sans les charger en mémoire.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328416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447288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OpenSeadragon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6557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Visionneuse de lames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465576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Zoom continu sur pyramide de tuiles, référence du domaine WSI.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13632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032504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050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Stockage objet 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050792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Sépare les fichiers volumineux de la base ; compatible S3 pour un futur hébergement.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98848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617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InstanSeg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63600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Segmentation de noyaux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63600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Modèle spécialisé en histologie, isolé dans son propre service pour ne pas alourdir l'API.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084064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202936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PostgreSQL + Alembic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221224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Données structurées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21224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Migrations versionnées : indispensable dès qu'un schéma évolue en production.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669280"/>
            <a:ext cx="10698480" cy="53035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78815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JSON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8064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45C878"/>
                </a:solidFill>
                <a:latin typeface="Calibri"/>
              </a:rPr>
              <a:t>Contrat des formulaires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80644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Standard : la même définition valide côté client et côté serveur.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CONCEPTION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C8D3E0"/>
                </a:solidFill>
                <a:latin typeface="Calibri"/>
              </a:rPr>
              <a:t>Sept tables métier, plus la table de versionnement d'Alembic.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0312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2926080" cy="34747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identité, dossier,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antécédents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0312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31920" y="2103120"/>
            <a:ext cx="2926080" cy="34747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9651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biopsies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lame numérisée,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chemin des tuiles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10312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2103120"/>
            <a:ext cx="2926080" cy="34747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radiology_studies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578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étude DICOM,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compte rendu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566160"/>
            <a:ext cx="2926080" cy="34747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région d'intérêt,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formulaire à plat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56616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31920" y="3566160"/>
            <a:ext cx="2926080" cy="34747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9651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drawings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annotations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géométriques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566160"/>
            <a:ext cx="292608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86600" y="3566160"/>
            <a:ext cx="2926080" cy="34747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51192" y="36393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workflow_states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04164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étape courante,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date d'achèvement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29200"/>
            <a:ext cx="3657600" cy="1143000"/>
          </a:xfrm>
          <a:prstGeom prst="rect">
            <a:avLst/>
          </a:prstGeom>
          <a:solidFill>
            <a:srgbClr val="334458"/>
          </a:solidFill>
          <a:ln w="1778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5029200"/>
            <a:ext cx="3657600" cy="34747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" y="51023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workflow_step_states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" y="550468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données JSONB par étape,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validation et auteur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5029200"/>
            <a:ext cx="6812280" cy="114300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63440" y="5029200"/>
            <a:ext cx="38000" cy="114300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19472" y="521208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Un choix de conception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Le suivi du workflow occupe deux tables dédiées plutôt que des colonnes ajoutées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à `extractions` : les données de chaque étape sont stockées en JSONB, et un champ ajouté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côté OLGA survit même sans colonne correspondante.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Module Radiologie · imagerie DICOM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5212080" cy="19659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19659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Chaîne de traitement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Import d'un fichier .dcm depuis l'interface.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backend le relaie à Orthanc, qui l'indexe et retourne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identifiants d'étude, de série et d'instance.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métadonnées réelles (modalité, date, patient) sont lues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sur le PACS : rien n'est saisi à la main.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212080" cy="19659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38000" cy="19659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82880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Visionneuse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Cornerstone.js affiche l'image via le protocole WADO-URI,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à travers un proxy vers Orthanc.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Huit outils : fenêtrage, déplacement, zoom, mesure 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distance, régions rectangulaire et elliptique, annotation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fléchée, gomme.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86200"/>
            <a:ext cx="10698480" cy="210312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38000" cy="210312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" y="4069080"/>
            <a:ext cx="10287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Compte rendu et export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compte rendu est saisi en regard de l'image et enregistré avec les annotations sérialisées.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L'export PDF reprend l'identité du dossier, la date et les observations.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Difficulté rencontrée : Orthanc n'expose pas l'identifiant d'étude au même endroit selon l'appel : il figure dans la réponse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à l'import, mais pas dans le détail d'une instance. L'import échouait systématiquement tant que cette distinction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n'était pas comprise. La modalité, elle, se lit au niveau de la série, et la date au niveau de l'étude.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Module Biopsie · lames numérisées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Du fichier source à l'affichage : quatre transformations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11680"/>
            <a:ext cx="1965960" cy="1600200"/>
          </a:xfrm>
          <a:prstGeom prst="rect">
            <a:avLst/>
          </a:prstGeom>
          <a:solidFill>
            <a:srgbClr val="334458"/>
          </a:solidFill>
          <a:ln w="1651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Fichier source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100 Mo à
plusieurs Go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.svs / .tif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93A3B6"/>
                </a:solidFill>
                <a:latin typeface="Arial Narrow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011680"/>
            <a:ext cx="1965960" cy="1600200"/>
          </a:xfrm>
          <a:prstGeom prst="rect">
            <a:avLst/>
          </a:prstGeom>
          <a:solidFill>
            <a:srgbClr val="334458"/>
          </a:solidFill>
          <a:ln w="1651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Stockage objet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Conservé intact
dans MinIO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sous le dossier
du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93A3B6"/>
                </a:solidFill>
                <a:latin typeface="Arial Narrow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011680"/>
            <a:ext cx="1965960" cy="1600200"/>
          </a:xfrm>
          <a:prstGeom prst="rect">
            <a:avLst/>
          </a:prstGeom>
          <a:solidFill>
            <a:srgbClr val="334458"/>
          </a:solidFill>
          <a:ln w="1651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Tuilage PyVips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Pyramide DZI
tuiles de 256 px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traitement
en flux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93A3B6"/>
                </a:solidFill>
                <a:latin typeface="Arial Narrow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011680"/>
            <a:ext cx="1965960" cy="1600200"/>
          </a:xfrm>
          <a:prstGeom prst="rect">
            <a:avLst/>
          </a:prstGeom>
          <a:solidFill>
            <a:srgbClr val="334458"/>
          </a:solidFill>
          <a:ln w="1651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2551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Service statique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Tuiles servies
à la demande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selon le niveau
de zoom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26060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93A3B6"/>
                </a:solidFill>
                <a:latin typeface="Arial Narrow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2011680"/>
            <a:ext cx="1965960" cy="1600200"/>
          </a:xfrm>
          <a:prstGeom prst="rect">
            <a:avLst/>
          </a:prstGeom>
          <a:solidFill>
            <a:srgbClr val="334458"/>
          </a:solidFill>
          <a:ln w="1651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0072" y="2176272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OpenSeadragon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Zoom continu
et annotations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calque SVG
superposé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31920"/>
            <a:ext cx="5212080" cy="205740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931920"/>
            <a:ext cx="38000" cy="20574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6607" y="3956836"/>
            <a:ext cx="4800600" cy="1941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dirty="0">
                <a:solidFill>
                  <a:srgbClr val="FFFFFF"/>
                </a:solidFill>
                <a:latin typeface="Arial Narrow"/>
              </a:rPr>
              <a:t>Annotation collaborative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Rectangles, cercles,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polygones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libellés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dessinés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sur un calque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SVG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aligné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sur les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coordonnées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l'image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.</a:t>
            </a:r>
            <a:endParaRPr lang="fr-FR" sz="90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30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Chaque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tracé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porte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son auteur : les annotations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personnelles</a:t>
            </a:r>
            <a:endParaRPr sz="115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apparaissent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vert,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celles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des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collègues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orange.</a:t>
            </a:r>
            <a:endParaRPr lang="fr-FR" sz="115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60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Une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région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encadrée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devient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extraction :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elle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est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découpée</a:t>
            </a:r>
            <a:endParaRPr sz="115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en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TIFF pyramidal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constitue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un dossier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d'analyse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autonome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212080" cy="205740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38000" cy="205740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4793" y="3991004"/>
            <a:ext cx="4800600" cy="1991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dirty="0" err="1">
                <a:solidFill>
                  <a:srgbClr val="FFFFFF"/>
                </a:solidFill>
                <a:latin typeface="Arial Narrow"/>
              </a:rPr>
              <a:t>Difficulté</a:t>
            </a:r>
            <a:r>
              <a:rPr sz="1450" b="1" dirty="0">
                <a:solidFill>
                  <a:srgbClr val="FFFFFF"/>
                </a:solidFill>
                <a:latin typeface="Arial Narrow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 Narrow"/>
              </a:rPr>
              <a:t>rencontrée</a:t>
            </a:r>
            <a:endParaRPr sz="1450" b="1" dirty="0">
              <a:solidFill>
                <a:srgbClr val="FFFFFF"/>
              </a:solidFill>
              <a:latin typeface="Arial Narrow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Deux dispositions de stockage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coexistaient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dans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MinIO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: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celle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du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script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d'amorçage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à la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racine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du bucket, et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celle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des imports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applicatifs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, sous le dossier du patient.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70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L'extraction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échouait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pour trois patients sur quatre.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300" b="0" dirty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C8D3E0"/>
                </a:solidFill>
                <a:latin typeface="Calibri"/>
              </a:rPr>
              <a:t>Résolu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par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une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fonction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résolution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qui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essaie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les emplacements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dirty="0">
                <a:solidFill>
                  <a:srgbClr val="C8D3E0"/>
                </a:solidFill>
                <a:latin typeface="Calibri"/>
              </a:rPr>
              <a:t>du plus précis au plus large, et par la </a:t>
            </a:r>
            <a:r>
              <a:rPr sz="1150" b="0" dirty="0" err="1">
                <a:solidFill>
                  <a:srgbClr val="C8D3E0"/>
                </a:solidFill>
                <a:latin typeface="Calibri"/>
              </a:rPr>
              <a:t>réécriture</a:t>
            </a:r>
            <a:r>
              <a:rPr sz="1150" b="0" dirty="0">
                <a:solidFill>
                  <a:srgbClr val="C8D3E0"/>
                </a:solidFill>
                <a:latin typeface="Calibri"/>
              </a:rPr>
              <a:t> du script.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RÉALISATION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Module d'aide au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38328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Le service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InstanSeg, modèle de segmentation d'instances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spécialisé en histologie.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Isolé dans son propre conteneur avec PyTorch,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exposé en HTTP sur le port 7000.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Ce choix évite d'embarquer PyTorch dans l'API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métier. L'image du backend est passée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de 15 Go à 1,7 Go.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backend n'en est que le client HTTP.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38000" cy="40233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Le traitement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La région sélectionnée est extraite de la lame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source, bornée à 1500 × 1500 pixels.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Elle est encodée puis transmise au service,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qui renvoie les instances détectées : surface,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centroïde, boîte englobante et contour.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Les contours sont retranslatés dans le repère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de l'image et superposés à la lame.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338328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828800"/>
            <a:ext cx="297180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Les indicateurs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Densité cellulaire : nombre de noyaux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rapporté à la surface analysée.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Taille moyenne des noyaux.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Indice de pléomorphisme : dispersion 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tailles, indicateur d'atypie cellulaire.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Ces valeurs sont une aide à la lecture.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Le diagnostic reste posé par le praticien,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qui seul valide l'étape correspondante.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ANALYSE CRITIQUE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Limites assumées et travaux restants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1371600"/>
          </a:xfrm>
          <a:prstGeom prst="rect">
            <a:avLst/>
          </a:prstGeom>
          <a:solidFill>
            <a:srgbClr val="3B3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8000" cy="1371600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700" b="1">
                <a:solidFill>
                  <a:srgbClr val="E8963C"/>
                </a:solidFill>
                <a:latin typeface="Arial Narrow"/>
              </a:rPr>
              <a:t>Limite principale : l'authentification n'est pas implémentée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L'identité de l'utilisateur provient du stockage local du navigateur et n'est vérifiée par aucun service. La signature enregistrée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à chaque validation d'étape est donc falsifiable. Tant que ce point n'est pas traité, la traçabilité n'a pas de valeur médico-légale,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et la plateforme ne peut pas héberger de données de patients réels.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26000" cy="658368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Contrôle d'accès par 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4670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Un technicien ne devrait pas pouvoir valider l'étape de diagnostic. Le modèle est prêt à recevoir cette distinction.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977640"/>
            <a:ext cx="26000" cy="658368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599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Validation des champs côté serveur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7822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La structure est en place et la validation par étape fonctionne ; le contrôle champ par champ contre le schéma reste à brancher.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0916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709160"/>
            <a:ext cx="26000" cy="658368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79145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Protection des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0974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Les tuiles sont servies sans contrôle d'accès. Un contrôle par dossier est nécessaire avant tout usage réel.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44068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5440680"/>
            <a:ext cx="26000" cy="658368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5229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Chiffrement des échanges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412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Les services communiquent en clair au sein du réseau conteneurisé, ce qui convient au développement mais pas au déploiement.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280" y="356540"/>
            <a:ext cx="10789920" cy="58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lang="fr-FR" sz="1200" b="1" dirty="0">
                <a:solidFill>
                  <a:srgbClr val="45C878"/>
                </a:solidFill>
                <a:latin typeface="Arial Narrow"/>
              </a:rPr>
              <a:t>CONCLUSION</a:t>
            </a:r>
            <a:endParaRPr sz="1200" b="1" dirty="0">
              <a:solidFill>
                <a:srgbClr val="45C878"/>
              </a:solidFill>
              <a:latin typeface="Arial Narrow"/>
            </a:endParaRP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lang="fr-FR" sz="3100" b="1" dirty="0">
                <a:solidFill>
                  <a:srgbClr val="FFFFFF"/>
                </a:solidFill>
                <a:latin typeface="Arial Narrow"/>
              </a:rPr>
              <a:t>Vers une pathologie augmentée</a:t>
            </a:r>
            <a:endParaRPr sz="3100" b="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1891" y="1762341"/>
            <a:ext cx="9630168" cy="457200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51891" y="1762341"/>
            <a:ext cx="22000" cy="4572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51891" y="2386765"/>
            <a:ext cx="9630168" cy="457200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51891" y="2386765"/>
            <a:ext cx="22000" cy="4572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2191" y="2411703"/>
            <a:ext cx="9559868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400" dirty="0" err="1">
                <a:solidFill>
                  <a:srgbClr val="C8D3E0"/>
                </a:solidFill>
              </a:rPr>
              <a:t>Des lames de plusieurs gigaoctets s'ouvrent sans attente, grâce au tuilage DZI et à OpenSeadragon.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5766" y="3026955"/>
            <a:ext cx="9630168" cy="457200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45766" y="3026955"/>
            <a:ext cx="22000" cy="4572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16066" y="3063531"/>
            <a:ext cx="9559868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400" dirty="0" err="1">
                <a:solidFill>
                  <a:srgbClr val="C8D3E0"/>
                </a:solidFill>
              </a:rPr>
              <a:t>L'ergonomie et le modèle de données suivent les contraintes du métier. La sécurité, elle, reste à finir.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5766" y="3721498"/>
            <a:ext cx="9630168" cy="457200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5766" y="3721498"/>
            <a:ext cx="22000" cy="4572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16066" y="3750099"/>
            <a:ext cx="9559868" cy="277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600" dirty="0">
                <a:solidFill>
                  <a:srgbClr val="C8D3E0"/>
                </a:solidFill>
              </a:rPr>
              <a:t>Travail en itérations, versions et tickets suivis sur Git et GitHub.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9825A267-E518-5CF4-D245-D14D3E3B919E}"/>
              </a:ext>
            </a:extLst>
          </p:cNvPr>
          <p:cNvSpPr/>
          <p:nvPr/>
        </p:nvSpPr>
        <p:spPr>
          <a:xfrm>
            <a:off x="1322191" y="1800171"/>
            <a:ext cx="9832094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C8D3E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C8D3E0"/>
                </a:solidFill>
              </a:rPr>
              <a:t>Sept conteneurs Docker et un stockage objet MinIO, qui démarrent d'une seule commande.</a:t>
            </a: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8BACECE6-C8F5-1D3C-9A9C-128F678A65C5}"/>
              </a:ext>
            </a:extLst>
          </p:cNvPr>
          <p:cNvSpPr/>
          <p:nvPr/>
        </p:nvSpPr>
        <p:spPr>
          <a:xfrm>
            <a:off x="1163696" y="4494878"/>
            <a:ext cx="9718363" cy="719404"/>
          </a:xfrm>
          <a:prstGeom prst="roundRect">
            <a:avLst>
              <a:gd name="adj" fmla="val 3036"/>
            </a:avLst>
          </a:prstGeom>
          <a:solidFill>
            <a:srgbClr val="0C7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5ABAE26D-C630-D889-E6FE-34ADDBD70F74}"/>
              </a:ext>
            </a:extLst>
          </p:cNvPr>
          <p:cNvSpPr/>
          <p:nvPr/>
        </p:nvSpPr>
        <p:spPr>
          <a:xfrm>
            <a:off x="1281726" y="4645901"/>
            <a:ext cx="9608168" cy="719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Noto Sans Bold" pitchFamily="34" charset="-122"/>
                <a:cs typeface="Noto Sans Bold" pitchFamily="34" charset="-120"/>
              </a:rPr>
              <a:t>Chiron.</a:t>
            </a: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fait tenir dans un navigateur ce qui demandait un microscope et une station dédiée. Reste à l'authentifier avant de lui confier de vrais patients.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CE QUI CHANGE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Trois chantiers, un seul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342900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1 · Résorber la dette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Un audit ligne à ligne du dépôt 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produit 86 correctifs, répartis 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neuf chantiers : architecture,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hygiène, conteneurs, tests,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intégration et déploiement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continus, revue, sécurité.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Aucun n'ajoute de fonctionnalité.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Tous conditionnent la suite : on 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construit pas sur une base qu'on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ne sait pas tester.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42900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645920"/>
            <a:ext cx="38000" cy="402336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182880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2 · Onze évolutions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Demandées par l'équipe projet,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et non issues de l'audit.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Détection des zones suspectes,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suivi du patient dans le temps,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collaboration entre praticiens,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temps réel, usage sur tablette.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Chacune est chiffrée, priorisée, 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ses prérequis sont écrits : rien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n'est promis hors de son coût.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45920"/>
            <a:ext cx="3291840" cy="40233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645920"/>
            <a:ext cx="38000" cy="402336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1" y="1828800"/>
            <a:ext cx="2880360" cy="3749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3 · Une identité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Le produit s'appelle Chiron.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Du nom du centaure guérisseur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qui enseigna la médecine 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Asclépios. Le point final fait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partie du logotype.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Déjà renommés : l'interface, 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favicon, le compte rendu PDF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exporté, la documentation, et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C8D3E0"/>
                </a:solidFill>
                <a:latin typeface="Calibri"/>
              </a:rPr>
              <a:t>cette présentation.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150" b="0">
              <a:solidFill>
                <a:srgbClr val="C8D3E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REFONTE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Ce qu'on corrige avant d'ajouter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10698480" cy="1371600"/>
          </a:xfrm>
          <a:prstGeom prst="rect">
            <a:avLst/>
          </a:prstGeom>
          <a:solidFill>
            <a:srgbClr val="3B3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38000" cy="1371600"/>
          </a:xfrm>
          <a:prstGeom prst="rect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E8963C"/>
                </a:solidFill>
                <a:latin typeface="Arial Narrow"/>
              </a:rPr>
              <a:t>Trois verrous bloquent mécaniquement tout le reste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Fabrique d'application : importer le backend exige aujourd'hui PostgreSQL, MinIO et un répertoire précis : aucun test n'est possible avant.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Image frontend : le conteneur lance le serveur de développement : il n'existe rien à déployer.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Nom d'image : sans tag sur les services construits, rien à publier, rien à installer, rien à annuler.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26000" cy="658368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Architecture et découpage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4670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Le backend concentre 1 166 lignes et dix-huit routes dans un seul fichier, la visionneuse 1 741. Un domaine par revue, jamais de refonte d'un bloc.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977640"/>
            <a:ext cx="26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599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07822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Il n'existe aujourd'hui aucun test dans le dépôt. On commence par les tests unitaires, les migrations de base et un test de démarrage de la pile complète.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0916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709160"/>
            <a:ext cx="26000" cy="658368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79145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Intégration et déploiement continus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0974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Savoir à chaque proposition de modification si le projet compile, se construit et s'image ; puis publier des images versionnées et pouvoir revenir en arrière.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440680"/>
            <a:ext cx="10698480" cy="658368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5440680"/>
            <a:ext cx="26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5229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412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CORS ouvert, traversée de chemin, téléversements sans limite : corrigés. L'authentification réelle et le journal d'audit sont deux chantiers à cadrer à part.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ÉVOLUTIONS FONCTIONNELLES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Ce que la plateforme saura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45920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645920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Détecter les zones suspectes d'une lame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645920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7739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8013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Plusieurs lames et examens, frise chronologique</a:t>
            </a:r>
            <a:r>
              <a:rPr sz="1000" b="1">
                <a:solidFill>
                  <a:srgbClr val="93A3B6"/>
                </a:solidFill>
                <a:latin typeface="Calibri"/>
              </a:rPr>
              <a:t>   P1 · 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487168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Comparer deux lames, zoom synchronisé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87168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487168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61518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6426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Commenter un dossier sans toucher au compte rendu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328416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3328416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Demander un second avis et l'assigner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28416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3328416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48386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Rechercher et filtrer sur le tableau de bord</a:t>
            </a:r>
            <a:r>
              <a:rPr sz="1000" b="1">
                <a:solidFill>
                  <a:srgbClr val="93A3B6"/>
                </a:solidFill>
                <a:latin typeface="Calibri"/>
              </a:rPr>
              <a:t>   P1 ·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69664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169664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Faire remonter un dossier urgent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169664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4169664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42976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32511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Notifier une assignation ou une validation</a:t>
            </a:r>
            <a:r>
              <a:rPr sz="1000" b="1">
                <a:solidFill>
                  <a:srgbClr val="93A3B6"/>
                </a:solidFill>
                <a:latin typeface="Calibri"/>
              </a:rPr>
              <a:t>   P3 · 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10912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5010912"/>
            <a:ext cx="26000" cy="713232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15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Voir et modifier à plusieurs, en temps réel</a:t>
            </a:r>
            <a:r>
              <a:rPr sz="1000" b="1">
                <a:solidFill>
                  <a:srgbClr val="93A3B6"/>
                </a:solidFill>
                <a:latin typeface="Calibri"/>
              </a:rPr>
              <a:t>   P3 · 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5010912"/>
            <a:ext cx="5212080" cy="713232"/>
          </a:xfrm>
          <a:prstGeom prst="rect">
            <a:avLst/>
          </a:prstGeom>
          <a:solidFill>
            <a:srgbClr val="334458"/>
          </a:solidFill>
          <a:ln w="12700">
            <a:solidFill>
              <a:srgbClr val="4458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5010912"/>
            <a:ext cx="26000" cy="713232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5138928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45C878"/>
                </a:solidFill>
                <a:latin typeface="Arial Narrow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166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Travailler sur tablette, consulter sur téléphone</a:t>
            </a:r>
            <a:r>
              <a:rPr sz="1000" b="1">
                <a:solidFill>
                  <a:srgbClr val="93A3B6"/>
                </a:solidFill>
                <a:latin typeface="Calibri"/>
              </a:rPr>
              <a:t>   P2 · 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861304"/>
            <a:ext cx="10698480" cy="36576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7280" y="5975096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C8D3E0"/>
                </a:solidFill>
                <a:latin typeface="Calibri"/>
              </a:rPr>
              <a:t>Deux prérequis reviennent partout : </a:t>
            </a:r>
            <a:r>
              <a:rPr sz="1000" b="1">
                <a:solidFill>
                  <a:srgbClr val="FFFFFF"/>
                </a:solidFill>
                <a:latin typeface="Calibri"/>
              </a:rPr>
              <a:t>l'authentification réelle</a:t>
            </a:r>
            <a:r>
              <a:rPr sz="1000" b="0">
                <a:solidFill>
                  <a:srgbClr val="C8D3E0"/>
                </a:solidFill>
                <a:latin typeface="Calibri"/>
              </a:rPr>
              <a:t>, et la levée de la limite « une seule lame par dossier », dont dépend tout le suivi dans le temps.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B3B"/>
              </a:gs>
              <a:gs pos="100000">
                <a:srgbClr val="3A4C6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07008"/>
            <a:ext cx="12191695" cy="280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55000" cy="658368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7432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1">
                <a:solidFill>
                  <a:srgbClr val="45C878"/>
                </a:solidFill>
                <a:latin typeface="Arial Narrow"/>
              </a:rPr>
              <a:t>ÉTAT DE L'ART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100" b="1">
                <a:solidFill>
                  <a:srgbClr val="FFFFFF"/>
                </a:solidFill>
                <a:latin typeface="Arial Narrow"/>
              </a:rPr>
              <a:t>Ce qui existe déjà, libre ou payant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3A3B6"/>
                </a:solidFill>
                <a:latin typeface="Calibri"/>
              </a:rPr>
              <a:t>Chiron. · SAÉ 5.Real.01 · Plateforme d'imagerie médicale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3A3B6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5212080" cy="365760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38000" cy="3657600"/>
          </a:xfrm>
          <a:prstGeom prst="rect">
            <a:avLst/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602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 Narrow"/>
              </a:rPr>
              <a:t>Anatomopathologie numérique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QuPath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30428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37286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339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Référence de l'analyse de lames numérisées : segmentation cellulaire, classification, scripts reproductibles. GPL v3 (Bankhead et coll., Scientific Reports, 2017).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Cytomine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3101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37870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98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Annotation collaborative de lames dans le navigateur, avec gestion des droits par projet. Licence Apache 2.0. C'est le plus proche de ce que vise Chiron.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Visiopharm · Aiforia · Paige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3159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438454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456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Aide au diagnostic marquée CE ou autorisée par la FDA, donc utilisable sur de vrais patients. Licence annuelle par site, tarif sur devis.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554480"/>
            <a:ext cx="5212080" cy="365760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1554480"/>
            <a:ext cx="38000" cy="365760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7602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 Narrow"/>
              </a:rPr>
              <a:t>Radiologie et imagerie DICOM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31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Orthanc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30428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237286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339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Serveur DICOM léger, piloté par une API REST. GPL v3. C'est la brique sur laquelle Chiron s'appuie déjà.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OHIF Viewer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331012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A8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0" y="337870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6398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Visionneuse DICOM dans le navigateur, licence MIT. Sert de base à de nombreux projets hospitaliers.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3434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Sectra · Philips IntelliSpace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431596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438454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6456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PACS complets déployés en CHU : stockage, distribution, postes de lecture homologués. Contrat pluriannuel.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394960"/>
            <a:ext cx="10698480" cy="731520"/>
          </a:xfrm>
          <a:prstGeom prst="rect">
            <a:avLst/>
          </a:prstGeom>
          <a:solidFill>
            <a:srgbClr val="334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" y="5394960"/>
            <a:ext cx="38000" cy="731520"/>
          </a:xfrm>
          <a:prstGeom prst="rect">
            <a:avLst/>
          </a:prstGeom>
          <a:solidFill>
            <a:srgbClr val="0C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7280" y="552831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rial Narrow"/>
              </a:rPr>
              <a:t>Ce que Chiron réutilise, sans payer de licence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C8D3E0"/>
                </a:solidFill>
                <a:latin typeface="Calibri"/>
              </a:rPr>
              <a:t>Orthanc pour le DICOM, OpenSeadragon pour les lames, Cornerstone.js pour la visualisation, InstanSeg pour la segmentation des noyaux et PyVips pour le tuilage. Aucune de ces briques n'est payante : le coût du projet est en temps de développement, pas en licences.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2194</Words>
  <Application>Microsoft Office PowerPoint</Application>
  <PresentationFormat>Grand écran</PresentationFormat>
  <Paragraphs>361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Noto Sans</vt:lpstr>
      <vt:lpstr>Noto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Gueux</cp:lastModifiedBy>
  <cp:revision>2</cp:revision>
  <dcterms:created xsi:type="dcterms:W3CDTF">2013-01-27T09:14:16Z</dcterms:created>
  <dcterms:modified xsi:type="dcterms:W3CDTF">2026-08-27T21:08:53Z</dcterms:modified>
  <cp:category/>
</cp:coreProperties>
</file>